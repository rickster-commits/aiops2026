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FF44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ELITEBOOK</c:v>
                  </c:pt>
                  <c:pt idx="1">
                    <c:v>MICROTOWER</c:v>
                  </c:pt>
                  <c:pt idx="2">
                    <c:v>Obsidian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ELITEBOOK</c:v>
                  </c:pt>
                  <c:pt idx="1">
                    <c:v>MICROTOWER</c:v>
                  </c:pt>
                  <c:pt idx="2">
                    <c:v>Obsidian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119</c:v>
                </c:pt>
                <c:pt idx="1">
                  <c:v>129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ELITEBOOK</c:v>
                  </c:pt>
                  <c:pt idx="1">
                    <c:v>MICROTOWER</c:v>
                  </c:pt>
                  <c:pt idx="2">
                    <c:v>Obsidian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35</c:v>
                </c:pt>
                <c:pt idx="1">
                  <c:v>36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C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C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840480" cy="5070348"/>
          </a:xfrm>
          <a:prstGeom prst="rect">
            <a:avLst/>
          </a:prstGeom>
          <a:solidFill>
            <a:srgbClr val="0E2A4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274320" y="2880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IT OPERATIONS PLATFORM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3291840"/>
            <a:ext cx="301752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4290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Kirinyaga University · BSc IT ·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37033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Jotham Wasike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0" y="822960"/>
            <a:ext cx="4663440" cy="68580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51960" y="8961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Alfrick Achoki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118872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CT100/G/14089/21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1645920"/>
            <a:ext cx="4663440" cy="68580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51960" y="17190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Shadrack Kithua Ndunguu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51960" y="2011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CT100/G/15934/22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2468880"/>
            <a:ext cx="4663440" cy="68580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51960" y="25420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Maureen Mwangi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283464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CT100/G/17587/22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3291840"/>
            <a:ext cx="4663440" cy="68580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51960" y="33649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Njuguna Peter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51960" y="365760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CT100/G/15912/22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0" y="4114800"/>
            <a:ext cx="4663440" cy="68580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51960" y="41879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Kimutai Nahashon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51960" y="448056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CT100/G/15975/22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E2A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651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· Python · Ubuntu · Zero Commercial Tooling · Inspired by keephq/keep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8229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822960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12252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8229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822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155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23560" y="12252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Inspiration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993392"/>
            <a:ext cx="4206240" cy="8229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93392"/>
            <a:ext cx="54864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031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8720" y="22128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1993392"/>
            <a:ext cx="4206240" cy="8229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993392"/>
            <a:ext cx="54864" cy="8229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1031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23560" y="22128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980944"/>
            <a:ext cx="4206240" cy="8229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80944"/>
            <a:ext cx="54864" cy="822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906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88720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Keep-Inspired Intelligence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2980944"/>
            <a:ext cx="4206240" cy="8229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980944"/>
            <a:ext cx="54864" cy="8229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906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623560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968496"/>
            <a:ext cx="4206240" cy="8229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968496"/>
            <a:ext cx="54864" cy="8229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7822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188720" y="41879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3968496"/>
            <a:ext cx="4206240" cy="8229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968496"/>
            <a:ext cx="54864" cy="822960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07822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623560" y="41879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108960" cy="15087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8755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SMEs lack dedicated security ops teams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49040" y="914400"/>
            <a:ext cx="5029200" cy="80467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8620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34840" y="1143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AIOps platforms cost $50K–$200K/year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1874520"/>
            <a:ext cx="5029200" cy="80467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2103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tools generate overwhelming alert noise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49040" y="2834640"/>
            <a:ext cx="5029200" cy="80467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8620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34840" y="3063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cross-endpoint behavioral anomaly detection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749040" y="3794760"/>
            <a:ext cx="5029200" cy="80467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8620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34840" y="4023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 analysis cannot scale to modern threats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solidFill>
            <a:srgbClr val="FF6B6B">
              <a:alpha val="12000"/>
            </a:srgbClr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531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Keep (keephq/keep) — Y Combinator-backed AIOps with 11K+ GitHub stars — validates this exact gap, yet requires Docker and Kubernetes. AIOPS2026 closes it on a single laptop.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INSPIRATION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6217920" cy="77724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54864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235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 et al., 2019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ICSE-SEIP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68880" y="914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AIOps: Real-World Challenges and Research Innovations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216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AIOps as essential modern IT practice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6217920" cy="77724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01368"/>
            <a:ext cx="54864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8562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Notaro et al., 2021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0939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TIST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68880" y="1847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AIOps Methods for Failure Management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enrichment and correlation as core AIOps pillars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734056"/>
            <a:ext cx="6217920" cy="77724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34056"/>
            <a:ext cx="54864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Chandola et al., 2009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0266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Survey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68880" y="27797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A Survey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0815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theoretical basis for our statistical engine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666744"/>
            <a:ext cx="6217920" cy="77724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66744"/>
            <a:ext cx="54864" cy="777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21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2008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9593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68880" y="37124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40142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baseline comparison for anomaly detection approaches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868680"/>
            <a:ext cx="2011680" cy="4114800"/>
          </a:xfrm>
          <a:prstGeom prst="rect">
            <a:avLst/>
          </a:prstGeom>
          <a:solidFill>
            <a:srgbClr val="1A0808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868680"/>
            <a:ext cx="20116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1005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INSPIRATION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12280" y="1298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keephq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/keep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2280" y="1874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11K+ Stars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2148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Backed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25146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Deduplication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7889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Enrichment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58000" y="3063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Silencing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0" y="3337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Workflows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0" y="36118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Correlation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58000" y="3886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Auto-Resolve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7132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960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Wazuh SIEM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Wazuh 4.14.3 natively on Ubuntu 24.04 with indexer, manager, dashboard and filebeat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71323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37360"/>
            <a:ext cx="54864" cy="7132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470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8872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Windows Agents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ELITEBOOK and MICROTOWER Windows 10 endpoints to the Wazuh manager via LAN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8412480" cy="71323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60320"/>
            <a:ext cx="54864" cy="7132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70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Anomaly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zero-dependency Python engine using Z-score analysis and risk scoring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71323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83280"/>
            <a:ext cx="54864" cy="7132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930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8872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Keep-Inspired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deduplication, enrichment, silencing, auto-resolve, incidents and YAML workflows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06240"/>
            <a:ext cx="54864" cy="7132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15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18872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Document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live scans, measure results and produce an open-source reproducible SME platform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943600" cy="658368"/>
          </a:xfrm>
          <a:prstGeom prst="rect">
            <a:avLst/>
          </a:prstGeom>
          <a:solidFill>
            <a:srgbClr val="112240"/>
          </a:solidFill>
          <a:ln w="1524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65836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92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24358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Dashboard  ·  Companion App (Live Results Tab)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82496"/>
            <a:ext cx="5943600" cy="658368"/>
          </a:xfrm>
          <a:prstGeom prst="rect">
            <a:avLst/>
          </a:prstGeom>
          <a:solidFill>
            <a:srgbClr val="112240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82496"/>
            <a:ext cx="54864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workflow_engine.py  ·  4 YAML Automated Response Files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50592"/>
            <a:ext cx="5943600" cy="658368"/>
          </a:xfrm>
          <a:prstGeom prst="rect">
            <a:avLst/>
          </a:prstGeom>
          <a:solidFill>
            <a:srgbClr val="112240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50592"/>
            <a:ext cx="54864" cy="6583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05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277977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Manager  ·  aiops_analyzer.py  (ML Engine v3)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18688"/>
            <a:ext cx="5943600" cy="658368"/>
          </a:xfrm>
          <a:prstGeom prst="rect">
            <a:avLst/>
          </a:prstGeom>
          <a:solidFill>
            <a:srgbClr val="112240"/>
          </a:solidFill>
          <a:ln w="15240">
            <a:solidFill>
              <a:srgbClr val="FFD7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18688"/>
            <a:ext cx="54864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735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354787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Indexer (OpenSearch :9200)  ·  scan_history.json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86784"/>
            <a:ext cx="5943600" cy="658368"/>
          </a:xfrm>
          <a:prstGeom prst="rect">
            <a:avLst/>
          </a:prstGeom>
          <a:solidFill>
            <a:srgbClr val="112240"/>
          </a:solidFill>
          <a:ln w="15240">
            <a:solidFill>
              <a:srgbClr val="FF99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86784"/>
            <a:ext cx="54864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41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431596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Agents on Windows 10 Endpoints over LAN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914400"/>
            <a:ext cx="2331720" cy="102412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1005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128016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29400" y="153619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29400" y="1719072"/>
            <a:ext cx="1371600" cy="164592"/>
          </a:xfrm>
          <a:prstGeom prst="rect">
            <a:avLst/>
          </a:prstGeom>
          <a:solidFill>
            <a:srgbClr val="00E5A0">
              <a:alpha val="20000"/>
            </a:srgbClr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71907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537960" y="2212848"/>
            <a:ext cx="2331720" cy="102412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2940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23042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ELITEBOOK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257860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10 Ent. 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29400" y="28346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192.168.0.102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29400" y="3017520"/>
            <a:ext cx="1371600" cy="164592"/>
          </a:xfrm>
          <a:prstGeom prst="rect">
            <a:avLst/>
          </a:prstGeom>
          <a:solidFill>
            <a:srgbClr val="00C8FF">
              <a:alpha val="20000"/>
            </a:srgbClr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30175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001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537960" y="3511296"/>
            <a:ext cx="2331720" cy="102412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29400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178040" y="360273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MICROTOWER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78040" y="387705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10 Ent.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29400" y="413308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192.168.0.125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29400" y="4315968"/>
            <a:ext cx="1371600" cy="164592"/>
          </a:xfrm>
          <a:prstGeom prst="rect">
            <a:avLst/>
          </a:prstGeom>
          <a:solidFill>
            <a:srgbClr val="FF9900">
              <a:alpha val="20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43159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002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17373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4.14.3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SIEM/XDR — core monitoring engine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914400"/>
            <a:ext cx="2651760" cy="17373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914400"/>
            <a:ext cx="26517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1556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041648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011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workflow engine — zero deps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914400"/>
            <a:ext cx="2651760" cy="17373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914400"/>
            <a:ext cx="26517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11556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🐧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94576" y="1188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63056" y="2011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— all services run natively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2651760" cy="17373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80360"/>
            <a:ext cx="265176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815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188720" y="31546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Indexer — CVE data storage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18688" y="2880360"/>
            <a:ext cx="2651760" cy="17373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880360"/>
            <a:ext cx="26517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0815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041648" y="31546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Workflows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0128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automated responses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71616" y="2880360"/>
            <a:ext cx="2651760" cy="173736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2880360"/>
            <a:ext cx="2651760" cy="54864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30815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894576" y="31546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 Companion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63056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app with live results tab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86868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8686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121615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with Wazuh API (:55000) and enumerate all agents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4114800" cy="86868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84248"/>
            <a:ext cx="54864" cy="8686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488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Wazuh Indexer CVE state data (/wazuh-states-vulnerabilities-*)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08376"/>
            <a:ext cx="4114800" cy="86868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08376"/>
            <a:ext cx="54864" cy="8686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729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51560" y="32644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= (Critical × 10) + (High × 3) + (Medium × 1)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114800" cy="86868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960120"/>
            <a:ext cx="54864" cy="8686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247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394960" y="121615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= (Score − Mean) ÷ StdDev  →  flag if Z &gt; 2.5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984248"/>
            <a:ext cx="4114800" cy="86868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984248"/>
            <a:ext cx="54864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488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94960" y="22402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→ Silence → Rank by weight → Correlate into incidents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008376"/>
            <a:ext cx="4114800" cy="86868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008376"/>
            <a:ext cx="54864" cy="8686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1729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394960" y="32644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anomaly_report.json + append scan_history.json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14800"/>
            <a:ext cx="8412480" cy="713232"/>
          </a:xfrm>
          <a:prstGeom prst="rect">
            <a:avLst/>
          </a:prstGeom>
          <a:solidFill>
            <a:srgbClr val="112240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879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(Critical × 10) + (High × 3) + (Medium × 1)     ·     Threshold: Score &gt; 200 = High Risk     ·     Z &gt; 2.5 = Statistical Anomaly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KEEP-INSPIRED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8412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9692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12984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anomaly on same agent reported only once per scan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20624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14400"/>
            <a:ext cx="54864" cy="841248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50408" y="9692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Ranking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50408" y="12984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sorted by weight — Critical always surfaces first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420624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920240"/>
            <a:ext cx="54864" cy="8412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15568" y="1975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Correlation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23042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alerts grouped into named incidents per agent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920240"/>
            <a:ext cx="420624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920240"/>
            <a:ext cx="54864" cy="8412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6904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50408" y="1975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Enrichment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50408" y="23042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build, version, last keepalive attached to every incident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926080"/>
            <a:ext cx="420624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926080"/>
            <a:ext cx="54864" cy="84124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15568" y="29809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Tracking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" y="33101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+5 or ▼ −12 vs previous scan shown per endpoint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2926080"/>
            <a:ext cx="420624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926080"/>
            <a:ext cx="54864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46904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🔕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50408" y="29809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Silencing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50408" y="33101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alerts suppressed — no recurring noise each scan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931920"/>
            <a:ext cx="420624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931920"/>
            <a:ext cx="54864" cy="8412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115568" y="39867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15568" y="43159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auto-closed and logged when conditions clear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931920"/>
            <a:ext cx="420624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931920"/>
            <a:ext cx="54864" cy="841248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46904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550408" y="39867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50408" y="43159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appended to scan_history.json for full timeline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Workflow Engine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57200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841248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78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critical-cve.yml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critical CVE detection — notify + remediate + log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57200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54864" cy="8412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842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agent-disconnect.yml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359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agent loses connectivity — notify + remediate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57200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54864" cy="84124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00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high-risk-endpoint.yml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364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risk score exceeds 200 — notify + tag + log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457200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931920"/>
            <a:ext cx="54864" cy="8412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959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vulnerability-spike.yml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3708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abnormally high CVE count — notify + remediate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66360" y="914400"/>
            <a:ext cx="3657600" cy="3246120"/>
          </a:xfrm>
          <a:prstGeom prst="rect">
            <a:avLst/>
          </a:prstGeom>
          <a:solidFill>
            <a:srgbClr val="03081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57800" y="1005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WORKFLOW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03520" y="1325880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0" y="1325880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critical-cve-response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0" y="1449324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66560" y="1449324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critical CVEs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0" y="1696212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03520" y="1819656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66560" y="1819656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03520" y="1943100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filters: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03520" y="2066544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key: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0" y="2066544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03520" y="2189988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66560" y="2189988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CVE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03520" y="2436876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03520" y="2560320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66560" y="2560320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03520" y="2683764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66560" y="2683764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{agent} → patch now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03520" y="2807208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66560" y="2807208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03520" y="2930652"/>
            <a:ext cx="1417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66560" y="2930652"/>
            <a:ext cx="1828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166360" y="4187952"/>
            <a:ext cx="3657600" cy="6858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42611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notify · remediate · tag · log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57800" y="44988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 logged to logs/remediation_log.json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RULES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Custom Alert Rules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solidFill>
            <a:srgbClr val="0E2A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932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31720" y="9326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932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8412480" cy="365760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441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17320" y="133502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1344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Disconnected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0" y="13441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T1562.001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1664208"/>
            <a:ext cx="8412480" cy="365760"/>
          </a:xfrm>
          <a:prstGeom prst="rect">
            <a:avLst/>
          </a:prstGeom>
          <a:solidFill>
            <a:srgbClr val="0D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465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17320" y="173736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17465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Stopped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0" y="17465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T1562.001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066544"/>
            <a:ext cx="8412480" cy="365760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488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213969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214884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Reconnected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21488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468880"/>
            <a:ext cx="8412480" cy="365760"/>
          </a:xfrm>
          <a:prstGeom prst="rect">
            <a:avLst/>
          </a:prstGeom>
          <a:solidFill>
            <a:srgbClr val="0D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511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100010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17320" y="254203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31720" y="255117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Failed Logins — Brute Force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25511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2871216"/>
            <a:ext cx="8412480" cy="365760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535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100020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17320" y="294436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31720" y="295351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Account Created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29535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T1136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273552"/>
            <a:ext cx="8412480" cy="365760"/>
          </a:xfrm>
          <a:prstGeom prst="rect">
            <a:avLst/>
          </a:prstGeom>
          <a:solidFill>
            <a:srgbClr val="0D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3558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100021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417320" y="3346704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331720" y="33558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Added to Administrators Group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33558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3675888"/>
            <a:ext cx="8412480" cy="365760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7581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100030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417320" y="374904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331720" y="37581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Detected by Windows Defender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37581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T1587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4078224"/>
            <a:ext cx="8412480" cy="365760"/>
          </a:xfrm>
          <a:prstGeom prst="rect">
            <a:avLst/>
          </a:prstGeom>
          <a:solidFill>
            <a:srgbClr val="0D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1605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417320" y="415137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331720" y="4160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PowerShell Execution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98080" y="41605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T1059.001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5628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100060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417320" y="455371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331720" y="45628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Anomalies on Endpoint in 5 Minutes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98080" y="456285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920240" cy="96012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9601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875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ELITEBOOK CVEs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1920240" cy="96012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914400"/>
            <a:ext cx="54864" cy="960120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9875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14600" y="1463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MICROTOWER CVEs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80560" y="914400"/>
            <a:ext cx="1920240" cy="96012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914400"/>
            <a:ext cx="54864" cy="9601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9875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0" y="1463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ELITEBOOK SCORE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537960" y="914400"/>
            <a:ext cx="2148840" cy="96012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914400"/>
            <a:ext cx="54864" cy="960120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987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629400" y="146304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MICROTOWER SCORE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057400"/>
          <a:ext cx="53035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5897880" y="2057400"/>
            <a:ext cx="2880360" cy="347472"/>
          </a:xfrm>
          <a:prstGeom prst="rect">
            <a:avLst/>
          </a:prstGeom>
          <a:solidFill>
            <a:srgbClr val="0E2A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21214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675120" y="21214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040880" y="21214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452360" y="21214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909560" y="21214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897880" y="2441448"/>
            <a:ext cx="2880360" cy="585216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0" y="260604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ELITEBOOK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675120" y="2606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040880" y="260604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452360" y="2606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909560" y="2606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RISK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897880" y="3099816"/>
            <a:ext cx="2880360" cy="585216"/>
          </a:xfrm>
          <a:prstGeom prst="rect">
            <a:avLst/>
          </a:prstGeom>
          <a:solidFill>
            <a:srgbClr val="0D1F38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0" y="326440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MICROTOWER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675120" y="32644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040880" y="32644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452360" y="326440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909560" y="32644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RISK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897880" y="3758184"/>
            <a:ext cx="2880360" cy="585216"/>
          </a:xfrm>
          <a:prstGeom prst="rect">
            <a:avLst/>
          </a:prstGeom>
          <a:solidFill>
            <a:srgbClr val="112240"/>
          </a:solidFill>
          <a:ln w="3810">
            <a:solidFill>
              <a:srgbClr val="1E3A5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0" y="3922776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675120" y="392277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040880" y="392277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452360" y="392277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909560" y="392277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897880" y="4453128"/>
            <a:ext cx="2880360" cy="38404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89320" y="45171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278.3  ·  Std Dev: 197.2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OUTPUT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560320" cy="214884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178308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54864" cy="841248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875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Alerts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166360" y="914400"/>
            <a:ext cx="178308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66360" y="914400"/>
            <a:ext cx="54864" cy="8412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9875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257800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Dedup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32320" y="914400"/>
            <a:ext cx="178308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914400"/>
            <a:ext cx="54864" cy="841248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98755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223760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0" y="2377440"/>
            <a:ext cx="178308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377440"/>
            <a:ext cx="54864" cy="84124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45059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291840" y="2926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Fired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66360" y="2377440"/>
            <a:ext cx="1783080" cy="841248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66360" y="2377440"/>
            <a:ext cx="54864" cy="8412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45059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0.5s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257800" y="2926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Time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68580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429000"/>
            <a:ext cx="54864" cy="685800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204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INC-001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737360" y="35387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[CRITICAL]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3520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ELITEBOOK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54787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38679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anomalies — CRITICAL CVE · HIGH RISK · VULN SPIKE · CONNECTIVITY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251960"/>
            <a:ext cx="54864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343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INC-002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737360" y="436168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[CRITICAL]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91840" y="4343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MICROTOWER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94960" y="43708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192.168.0.125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46908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anomalies — CRITICAL CVE · HIGH RISK · VULN SPIKE · CONNECTIVITY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868680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similar Z-scores?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3502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Windows endpoints run identical Windows 10 build 19045.6466 — equally unpatched. Z-score measures relative deviation. Similar scores confirm the statistical model is working correctly.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8412480" cy="86868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38528"/>
            <a:ext cx="54864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Ubuntu vulnerabilities?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Linux detection uses package managers. Obsidian is well-maintained, confirming our server security posture is strong and the scan is accurate.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8412480" cy="86868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62656"/>
            <a:ext cx="54864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35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vs AIOPS2026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requires Docker and cloud infrastructure. AIOPS2026 implements the same intelligence patterns at zero cost on commodity hardware — purpose-built for SMEs.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86784"/>
            <a:ext cx="8412480" cy="86868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986784"/>
            <a:ext cx="54864" cy="8686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599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impact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44074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YAML workflows auto-generated remediation instructions for every incident. In a real SME environment this replaces entire first-response triage — zero manual steps.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4241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E5A0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6070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functional AIOps platform on commodity hardware at zero licensing cost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8412480" cy="54864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7007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E5A0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71907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7 real anomalies across 2 Windows endpoints in under 1 second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8412480" cy="54864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3591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E5A0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7 Keep-inspired features: dedup, enrichment, silencing, trends, correlation, auto-resolve, history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8412480" cy="54864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0175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E5A0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03580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incident response via YAML workflow engine — 4 workflows, zero manual triage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8412480" cy="54864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6758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E5A0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69417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and fully reproducible — no commercial tools required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251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4544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root cause analysis  ·  Integration with Keep platform  ·  Windows patch automation via WinRM  ·  Real-time WebSocket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16276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AIOPS2026  ·  Kirinyaga University  ·  BSc IT  · 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2148840"/>
            <a:ext cx="45720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2834640"/>
            <a:ext cx="4572000" cy="457200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github.com/rickster-commits/AIOPS2026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547872"/>
            <a:ext cx="1572768" cy="80467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36118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Alfrick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93192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CT100/G/14089/21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11680" y="3547872"/>
            <a:ext cx="1572768" cy="80467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36118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Shadrack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393192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CT100/G/15934/22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49040" y="3547872"/>
            <a:ext cx="1572768" cy="80467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36118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Maureen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393192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CT100/G/17587/22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0" y="3547872"/>
            <a:ext cx="1572768" cy="80467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36118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Njuguna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393192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CT100/G/15912/22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223760" y="3547872"/>
            <a:ext cx="1572768" cy="804672"/>
          </a:xfrm>
          <a:prstGeom prst="rect">
            <a:avLst/>
          </a:prstGeom>
          <a:solidFill>
            <a:srgbClr val="112240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36118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Kimutai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393192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CT100/G/15975/22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AIOPS2026</dc:title>
  <dc:subject>PptxGenJS Presentation</dc:subject>
  <dc:creator>PptxGenJS</dc:creator>
  <cp:lastModifiedBy>PptxGenJS</cp:lastModifiedBy>
  <cp:revision>1</cp:revision>
  <dcterms:created xsi:type="dcterms:W3CDTF">2026-03-13T20:53:36Z</dcterms:created>
  <dcterms:modified xsi:type="dcterms:W3CDTF">2026-03-13T20:53:36Z</dcterms:modified>
</cp:coreProperties>
</file>