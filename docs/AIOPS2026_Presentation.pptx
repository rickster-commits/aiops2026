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D1B2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0D1B2A"/>
                </a:solidFill>
                <a:latin typeface="Arial"/>
              </a:rPr>
              <a:t>CVE Distribution by Severity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</c:v>
                </c:pt>
              </c:strCache>
            </c:strRef>
          </c:tx>
          <c:spPr>
            <a:solidFill>
              <a:srgbClr val="E6394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ELITEBOOK</c:v>
                  </c:pt>
                  <c:pt idx="1">
                    <c:v>MICROTOWER</c:v>
                  </c:pt>
                  <c:pt idx="2">
                    <c:v>Obsidian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</c:v>
                </c:pt>
                <c:pt idx="1">
                  <c:v>1</c:v>
                </c:pt>
                <c:pt idx="2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</c:v>
                </c:pt>
              </c:strCache>
            </c:strRef>
          </c:tx>
          <c:spPr>
            <a:solidFill>
              <a:srgbClr val="F4A2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ELITEBOOK</c:v>
                  </c:pt>
                  <c:pt idx="1">
                    <c:v>MICROTOWER</c:v>
                  </c:pt>
                  <c:pt idx="2">
                    <c:v>Obsidian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119</c:v>
                </c:pt>
                <c:pt idx="1">
                  <c:v>129</c:v>
                </c:pt>
                <c:pt idx="2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ELITEBOOK</c:v>
                  </c:pt>
                  <c:pt idx="1">
                    <c:v>MICROTOWER</c:v>
                  </c:pt>
                  <c:pt idx="2">
                    <c:v>Obsidian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35</c:v>
                </c:pt>
                <c:pt idx="1">
                  <c:v>36</c:v>
                </c:pt>
                <c:pt idx="2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34E6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34E6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0"/>
            <a:ext cx="3200400" cy="5143500"/>
          </a:xfrm>
          <a:prstGeom prst="rect">
            <a:avLst/>
          </a:prstGeom>
          <a:solidFill>
            <a:srgbClr val="065A82">
              <a:alpha val="40000"/>
            </a:srgbClr>
          </a:solidFill>
          <a:ln w="12700">
            <a:solidFill>
              <a:srgbClr val="065A82">
                <a:alpha val="4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772400" y="0"/>
            <a:ext cx="1371600" cy="5143500"/>
          </a:xfrm>
          <a:prstGeom prst="rect">
            <a:avLst/>
          </a:prstGeom>
          <a:solidFill>
            <a:srgbClr val="1C7293">
              <a:alpha val="60000"/>
            </a:srgbClr>
          </a:solidFill>
          <a:ln w="12700">
            <a:solidFill>
              <a:srgbClr val="1C7293">
                <a:alpha val="6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640080"/>
            <a:ext cx="5943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spc="400" kern="0" dirty="0">
                <a:solidFill>
                  <a:srgbClr val="FFFFFF"/>
                </a:solidFill>
              </a:rPr>
              <a:t>AIOPS2026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457200" y="1645920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B4D8"/>
                </a:solidFill>
              </a:rPr>
              <a:t>AI-Powered IT Operations Platform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2240280"/>
            <a:ext cx="5303520" cy="0"/>
          </a:xfrm>
          <a:prstGeom prst="line">
            <a:avLst/>
          </a:prstGeom>
          <a:noFill/>
          <a:ln w="12700">
            <a:solidFill>
              <a:srgbClr val="1C729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42316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DDEF"/>
                </a:solidFill>
              </a:rPr>
              <a:t>Alfrick Achoki  </a:t>
            </a:r>
            <a:pPr indent="0" marL="0">
              <a:buNone/>
            </a:pPr>
            <a:r>
              <a:rPr lang="en-US" sz="1200" dirty="0">
                <a:solidFill>
                  <a:srgbClr val="C8DDEF"/>
                </a:solidFill>
              </a:rPr>
              <a:t>·  Shadrack Kithua  ·  Maureen Mwangi  ·  Njuguna Peter  ·  Kimutai Nahashon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788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B9EB0"/>
                </a:solidFill>
              </a:rPr>
              <a:t>Supervisor: Jotham Wasike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3154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B9EB0"/>
                </a:solidFill>
              </a:rPr>
              <a:t>Kirinyaga University  ·  BSc Information Technology  ·  2026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749040"/>
            <a:ext cx="2011680" cy="4114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37490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1B2A"/>
                </a:solidFill>
              </a:rPr>
              <a:t>FINAL YEAR PROJECT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B9EB0"/>
                </a:solidFill>
              </a:rPr>
              <a:t>1 / 13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6576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B9EB0"/>
                </a:solidFill>
              </a:rPr>
              <a:t>AIOPS2026  ·  Kirinyaga University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Agenda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3657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097280"/>
            <a:ext cx="4160520" cy="1005840"/>
          </a:xfrm>
          <a:prstGeom prst="rect">
            <a:avLst/>
          </a:prstGeom>
          <a:solidFill>
            <a:srgbClr val="065A82"/>
          </a:solidFill>
          <a:ln w="6350">
            <a:solidFill>
              <a:srgbClr val="1C72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097280"/>
            <a:ext cx="54864" cy="10058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30352" y="11704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B4D8"/>
                </a:solidFill>
              </a:rPr>
              <a:t>01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30352" y="13716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Problem Statement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30352" y="169164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B9EB0"/>
                </a:solidFill>
              </a:rPr>
              <a:t>Why manual IT ops is failing SMEs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800600" y="1097280"/>
            <a:ext cx="4160520" cy="1005840"/>
          </a:xfrm>
          <a:prstGeom prst="rect">
            <a:avLst/>
          </a:prstGeom>
          <a:solidFill>
            <a:srgbClr val="065A82"/>
          </a:solidFill>
          <a:ln w="6350">
            <a:solidFill>
              <a:srgbClr val="1C729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00600" y="1097280"/>
            <a:ext cx="54864" cy="10058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65192" y="11704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B4D8"/>
                </a:solidFill>
              </a:rPr>
              <a:t>02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965192" y="13716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Objectives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965192" y="169164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B9EB0"/>
                </a:solidFill>
              </a:rPr>
              <a:t>What AIOPS2026 sets out to achieve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2331720"/>
            <a:ext cx="4160520" cy="1005840"/>
          </a:xfrm>
          <a:prstGeom prst="rect">
            <a:avLst/>
          </a:prstGeom>
          <a:solidFill>
            <a:srgbClr val="065A82"/>
          </a:solidFill>
          <a:ln w="6350">
            <a:solidFill>
              <a:srgbClr val="1C729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2331720"/>
            <a:ext cx="54864" cy="10058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0352" y="24048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B4D8"/>
                </a:solidFill>
              </a:rPr>
              <a:t>03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30352" y="260604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System Architecture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30352" y="29260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B9EB0"/>
                </a:solidFill>
              </a:rPr>
              <a:t>The four-layer platform design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00600" y="2331720"/>
            <a:ext cx="4160520" cy="1005840"/>
          </a:xfrm>
          <a:prstGeom prst="rect">
            <a:avLst/>
          </a:prstGeom>
          <a:solidFill>
            <a:srgbClr val="065A82"/>
          </a:solidFill>
          <a:ln w="6350">
            <a:solidFill>
              <a:srgbClr val="1C729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800600" y="2331720"/>
            <a:ext cx="54864" cy="10058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65192" y="24048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B4D8"/>
                </a:solidFill>
              </a:rPr>
              <a:t>04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965192" y="260604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Implementation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965192" y="29260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B9EB0"/>
                </a:solidFill>
              </a:rPr>
              <a:t>Wazuh, agents, ML engine, custom rules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760" y="3566160"/>
            <a:ext cx="4160520" cy="1005840"/>
          </a:xfrm>
          <a:prstGeom prst="rect">
            <a:avLst/>
          </a:prstGeom>
          <a:solidFill>
            <a:srgbClr val="065A82"/>
          </a:solidFill>
          <a:ln w="6350">
            <a:solidFill>
              <a:srgbClr val="1C729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5760" y="3566160"/>
            <a:ext cx="54864" cy="10058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30352" y="36393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B4D8"/>
                </a:solidFill>
              </a:rPr>
              <a:t>05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30352" y="38404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Results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30352" y="41605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B9EB0"/>
                </a:solidFill>
              </a:rPr>
              <a:t>7 anomalies detected — real data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800600" y="3566160"/>
            <a:ext cx="4160520" cy="1005840"/>
          </a:xfrm>
          <a:prstGeom prst="rect">
            <a:avLst/>
          </a:prstGeom>
          <a:solidFill>
            <a:srgbClr val="065A82"/>
          </a:solidFill>
          <a:ln w="6350">
            <a:solidFill>
              <a:srgbClr val="1C729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800600" y="3566160"/>
            <a:ext cx="54864" cy="10058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965192" y="36393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B4D8"/>
                </a:solidFill>
              </a:rPr>
              <a:t>06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965192" y="38404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Discussion &amp; Conclusion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965192" y="41605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B9EB0"/>
                </a:solidFill>
              </a:rPr>
              <a:t>What the numbers mean + future work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B9EB0"/>
                </a:solidFill>
              </a:rPr>
              <a:t>2 / 13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6576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B9EB0"/>
                </a:solidFill>
              </a:rPr>
              <a:t>AIOPS2026  ·  Kirinyaga University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D1B2A"/>
                </a:solidFill>
              </a:rPr>
              <a:t>The Problem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3657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960120"/>
            <a:ext cx="4023360" cy="34747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65760" y="1188720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0" b="1" dirty="0">
                <a:solidFill>
                  <a:srgbClr val="00B4D8"/>
                </a:solidFill>
              </a:rPr>
              <a:t>60%</a:t>
            </a:r>
            <a:endParaRPr lang="en-US" sz="9000" dirty="0"/>
          </a:p>
        </p:txBody>
      </p:sp>
      <p:sp>
        <p:nvSpPr>
          <p:cNvPr id="6" name="Text 4"/>
          <p:cNvSpPr/>
          <p:nvPr/>
        </p:nvSpPr>
        <p:spPr>
          <a:xfrm>
            <a:off x="548640" y="2468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8DDEF"/>
                </a:solidFill>
              </a:rPr>
              <a:t>of SMEs cannot afford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C8DDEF"/>
                </a:solidFill>
              </a:rPr>
              <a:t>commercial AIOps tools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3246120"/>
            <a:ext cx="2560320" cy="0"/>
          </a:xfrm>
          <a:prstGeom prst="line">
            <a:avLst/>
          </a:prstGeom>
          <a:noFill/>
          <a:ln w="12700">
            <a:solidFill>
              <a:srgbClr val="1C729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33375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B9EB0"/>
                </a:solidFill>
              </a:rPr>
              <a:t>Leaving infrastructure exposed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7B9EB0"/>
                </a:solidFill>
              </a:rPr>
              <a:t>to undetected behavioral threats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960120"/>
            <a:ext cx="4297680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D0DDE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960120"/>
            <a:ext cx="64008" cy="105156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28032" y="1051560"/>
            <a:ext cx="4041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3946"/>
                </a:solidFill>
              </a:rPr>
              <a:t>Rule-based detection gaps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28032" y="1344168"/>
            <a:ext cx="4041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E68"/>
                </a:solidFill>
              </a:rPr>
              <a:t>Static rules miss novel or behavioral attack patterns — especially across mixed Windows/Linux fleets.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63440" y="2148840"/>
            <a:ext cx="4297680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D0DDE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63440" y="2148840"/>
            <a:ext cx="64008" cy="105156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28032" y="2240280"/>
            <a:ext cx="4041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A261"/>
                </a:solidFill>
              </a:rPr>
              <a:t>Alert fatigue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828032" y="2532888"/>
            <a:ext cx="4041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E68"/>
                </a:solidFill>
              </a:rPr>
              <a:t>Thousands of low-quality alerts per day overwhelm small IT teams with no dedicated SecOps staff.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663440" y="3337560"/>
            <a:ext cx="4297680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D0DDE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63440" y="3337560"/>
            <a:ext cx="64008" cy="10515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28032" y="3429000"/>
            <a:ext cx="4041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</a:rPr>
              <a:t>No cross-endpoint intelligence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828032" y="3721608"/>
            <a:ext cx="4041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E68"/>
                </a:solidFill>
              </a:rPr>
              <a:t>Individual endpoint alerts exist in isolation — nobody is comparing risk profiles across machines.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C7293"/>
                </a:solidFill>
              </a:rPr>
              <a:t>3 / 13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6576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C7293"/>
                </a:solidFill>
              </a:rPr>
              <a:t>AIOPS2026  ·  Kirinyaga University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Objectives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3657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005840"/>
            <a:ext cx="8412480" cy="1051560"/>
          </a:xfrm>
          <a:prstGeom prst="rect">
            <a:avLst/>
          </a:prstGeom>
          <a:solidFill>
            <a:srgbClr val="065A82"/>
          </a:solidFill>
          <a:ln w="6350">
            <a:solidFill>
              <a:srgbClr val="1C72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005840"/>
            <a:ext cx="54864" cy="10515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30352" y="1097280"/>
            <a:ext cx="8156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4D8"/>
                </a:solidFill>
              </a:rPr>
              <a:t>01  Design &amp; Build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30352" y="1444752"/>
            <a:ext cx="81564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DDEF"/>
                </a:solidFill>
              </a:rPr>
              <a:t>Integrate Wazuh SIEM with a custom ML anomaly detection layer into one deployable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" y="2240280"/>
            <a:ext cx="8412480" cy="1051560"/>
          </a:xfrm>
          <a:prstGeom prst="rect">
            <a:avLst/>
          </a:prstGeom>
          <a:solidFill>
            <a:srgbClr val="065A82"/>
          </a:solidFill>
          <a:ln w="6350">
            <a:solidFill>
              <a:srgbClr val="1C729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2240280"/>
            <a:ext cx="54864" cy="10515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0352" y="2331720"/>
            <a:ext cx="8156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4D8"/>
                </a:solidFill>
              </a:rPr>
              <a:t>02  Risk Scoring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30352" y="2679192"/>
            <a:ext cx="81564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DDEF"/>
                </a:solidFill>
              </a:rPr>
              <a:t>Develop an endpoint vulnerability scoring model: Critical×10 + High×3 + Medium×1.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3474720"/>
            <a:ext cx="8412480" cy="1051560"/>
          </a:xfrm>
          <a:prstGeom prst="rect">
            <a:avLst/>
          </a:prstGeom>
          <a:solidFill>
            <a:srgbClr val="065A82"/>
          </a:solidFill>
          <a:ln w="6350">
            <a:solidFill>
              <a:srgbClr val="1C729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3474720"/>
            <a:ext cx="54864" cy="10515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0352" y="3566160"/>
            <a:ext cx="8156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4D8"/>
                </a:solidFill>
              </a:rPr>
              <a:t>03  Custom Rules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30352" y="3913632"/>
            <a:ext cx="81564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DDEF"/>
                </a:solidFill>
              </a:rPr>
              <a:t>Write detection rules extending Wazuh's built-in capabilities, mapped to MITRE ATT&amp;CK.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4709160"/>
            <a:ext cx="4160520" cy="1051560"/>
          </a:xfrm>
          <a:prstGeom prst="rect">
            <a:avLst/>
          </a:prstGeom>
          <a:solidFill>
            <a:srgbClr val="065A82"/>
          </a:solidFill>
          <a:ln w="6350">
            <a:solidFill>
              <a:srgbClr val="1C729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65760" y="4709160"/>
            <a:ext cx="54864" cy="10515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352" y="4800600"/>
            <a:ext cx="39044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4D8"/>
                </a:solidFill>
              </a:rPr>
              <a:t>04  Evaluate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30352" y="5148072"/>
            <a:ext cx="39044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DDEF"/>
                </a:solidFill>
              </a:rPr>
              <a:t>Test effectiveness against real Windows endpoints with live CVE data and agent events.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800600" y="4709160"/>
            <a:ext cx="4160520" cy="1051560"/>
          </a:xfrm>
          <a:prstGeom prst="rect">
            <a:avLst/>
          </a:prstGeom>
          <a:solidFill>
            <a:srgbClr val="065A82"/>
          </a:solidFill>
          <a:ln w="6350">
            <a:solidFill>
              <a:srgbClr val="1C729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00600" y="4709160"/>
            <a:ext cx="54864" cy="10515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65192" y="4800600"/>
            <a:ext cx="39044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4D8"/>
                </a:solidFill>
              </a:rPr>
              <a:t>05  Open Source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965192" y="5148072"/>
            <a:ext cx="39044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DDEF"/>
                </a:solidFill>
              </a:rPr>
              <a:t>Provide a replicable, zero-cost AIOps architecture for SME environments.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B9EB0"/>
                </a:solidFill>
              </a:rPr>
              <a:t>4 / 13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6576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B9EB0"/>
                </a:solidFill>
              </a:rPr>
              <a:t>AIOPS2026  ·  Kirinyaga University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D1B2A"/>
                </a:solidFill>
              </a:rPr>
              <a:t>System Architecture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3657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960120"/>
            <a:ext cx="4754880" cy="74980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2920" y="10241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</a:rPr>
              <a:t>PRESENTATION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12984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</a:rPr>
              <a:t>Wazuh Dashboard  +  Companion App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468880" y="1709928"/>
            <a:ext cx="0" cy="73152"/>
          </a:xfrm>
          <a:prstGeom prst="line">
            <a:avLst/>
          </a:prstGeom>
          <a:noFill/>
          <a:ln w="12700">
            <a:solidFill>
              <a:srgbClr val="AAAAA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828800"/>
            <a:ext cx="4754880" cy="749808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02920" y="18928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</a:rPr>
              <a:t>ANALYSIS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2920" y="21671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DDEF"/>
                </a:solidFill>
              </a:rPr>
              <a:t>Wazuh Manager  +  aiops_analyzer.py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468880" y="2578608"/>
            <a:ext cx="0" cy="73152"/>
          </a:xfrm>
          <a:prstGeom prst="line">
            <a:avLst/>
          </a:prstGeom>
          <a:noFill/>
          <a:ln w="12700">
            <a:solidFill>
              <a:srgbClr val="AAAAA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5760" y="2697480"/>
            <a:ext cx="4754880" cy="74980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02920" y="27614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</a:rPr>
              <a:t>STORAGE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920" y="30358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DDEF"/>
                </a:solidFill>
              </a:rPr>
              <a:t>Wazuh Indexer  (OpenSearch, port 9200)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468880" y="3447288"/>
            <a:ext cx="0" cy="73152"/>
          </a:xfrm>
          <a:prstGeom prst="line">
            <a:avLst/>
          </a:prstGeom>
          <a:noFill/>
          <a:ln w="12700">
            <a:solidFill>
              <a:srgbClr val="AAAAA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65760" y="3566160"/>
            <a:ext cx="4754880" cy="749808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02920" y="36301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</a:rPr>
              <a:t>COLLECTION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02920" y="39044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DDEF"/>
                </a:solidFill>
              </a:rPr>
              <a:t>Wazuh Agents on Windows Endpoints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86400" y="91440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B2A"/>
                </a:solidFill>
              </a:rPr>
              <a:t>Monitored Endpoints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394960" y="1325880"/>
            <a:ext cx="356616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DE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394960" y="1325880"/>
            <a:ext cx="64008" cy="960120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577840" y="138988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2A"/>
                </a:solidFill>
              </a:rPr>
              <a:t>OBSIDIAN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577840" y="16459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7293"/>
                </a:solidFill>
              </a:rPr>
              <a:t>Ubuntu 24.04 LTS  ·  192.168.0.100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577840" y="18745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C4B6"/>
                </a:solidFill>
              </a:rPr>
              <a:t>Server / Wazuh Host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394960" y="2468880"/>
            <a:ext cx="356616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DE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394960" y="2468880"/>
            <a:ext cx="64008" cy="9601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577840" y="253288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2A"/>
                </a:solidFill>
              </a:rPr>
              <a:t>ELITEBOOK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577840" y="27889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7293"/>
                </a:solidFill>
              </a:rPr>
              <a:t>Windows 10 Ent.  ·  192.168.0.102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577840" y="30175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7293"/>
                </a:solidFill>
              </a:rPr>
              <a:t>Agent ID: 001  ✓ Active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394960" y="3611880"/>
            <a:ext cx="356616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DE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5394960" y="3611880"/>
            <a:ext cx="64008" cy="96012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577840" y="367588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2A"/>
                </a:solidFill>
              </a:rPr>
              <a:t>MICROTOWER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577840" y="39319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7293"/>
                </a:solidFill>
              </a:rPr>
              <a:t>Windows 10 Ent.  ·  192.168.0.125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577840" y="41605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4A261"/>
                </a:solidFill>
              </a:rPr>
              <a:t>Agent ID: 002  ✗ Disconnected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C7293"/>
                </a:solidFill>
              </a:rPr>
              <a:t>5 / 13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36576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C7293"/>
                </a:solidFill>
              </a:rPr>
              <a:t>AIOPS2026  ·  Kirinyaga University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Technology Stack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3657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005840"/>
            <a:ext cx="2651760" cy="1737360"/>
          </a:xfrm>
          <a:prstGeom prst="rect">
            <a:avLst/>
          </a:prstGeom>
          <a:solidFill>
            <a:srgbClr val="065A82"/>
          </a:solidFill>
          <a:ln w="6350">
            <a:solidFill>
              <a:srgbClr val="1C729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005840"/>
            <a:ext cx="2651760" cy="6400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" y="117043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Wazuh v4.14.3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5488" y="1517904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4D8"/>
                </a:solidFill>
              </a:rPr>
              <a:t>SIEM / XDR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75488" y="1810512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DDEF"/>
                </a:solidFill>
              </a:rPr>
              <a:t>Core detection engine, 14.3K+ built-in rules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00400" y="1005840"/>
            <a:ext cx="2651760" cy="1737360"/>
          </a:xfrm>
          <a:prstGeom prst="rect">
            <a:avLst/>
          </a:prstGeom>
          <a:solidFill>
            <a:srgbClr val="065A82"/>
          </a:solidFill>
          <a:ln w="6350">
            <a:solidFill>
              <a:srgbClr val="1C729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0" y="1005840"/>
            <a:ext cx="2651760" cy="64008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10128" y="117043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OpenSearch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310128" y="1517904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</a:rPr>
              <a:t>Indexer (port 9200)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310128" y="1810512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DDEF"/>
                </a:solidFill>
              </a:rPr>
              <a:t>Stores all vulnerability + alert data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035040" y="1005840"/>
            <a:ext cx="2651760" cy="1737360"/>
          </a:xfrm>
          <a:prstGeom prst="rect">
            <a:avLst/>
          </a:prstGeom>
          <a:solidFill>
            <a:srgbClr val="065A82"/>
          </a:solidFill>
          <a:ln w="6350">
            <a:solidFill>
              <a:srgbClr val="1C729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035040" y="1005840"/>
            <a:ext cx="2651760" cy="64008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44768" y="117043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Python 3.12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144768" y="1517904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C4B6"/>
                </a:solidFill>
              </a:rPr>
              <a:t>ML Engine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144768" y="1810512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DDEF"/>
                </a:solidFill>
              </a:rPr>
              <a:t>Zero external deps — stdlib only anomaly detection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65760" y="2926080"/>
            <a:ext cx="2651760" cy="1737360"/>
          </a:xfrm>
          <a:prstGeom prst="rect">
            <a:avLst/>
          </a:prstGeom>
          <a:solidFill>
            <a:srgbClr val="065A82"/>
          </a:solidFill>
          <a:ln w="6350">
            <a:solidFill>
              <a:srgbClr val="1C729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65760" y="2926080"/>
            <a:ext cx="2651760" cy="6400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5488" y="309067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Ubuntu 24.04 LTS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75488" y="3438144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5A82"/>
                </a:solidFill>
              </a:rPr>
              <a:t>Server OS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75488" y="3730752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DDEF"/>
                </a:solidFill>
              </a:rPr>
              <a:t>Obsidian laptop — 15GB RAM, 4 cores, 116GB SSD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200400" y="2926080"/>
            <a:ext cx="2651760" cy="1737360"/>
          </a:xfrm>
          <a:prstGeom prst="rect">
            <a:avLst/>
          </a:prstGeom>
          <a:solidFill>
            <a:srgbClr val="065A82"/>
          </a:solidFill>
          <a:ln w="6350">
            <a:solidFill>
              <a:srgbClr val="1C729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200400" y="2926080"/>
            <a:ext cx="2651760" cy="6400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10128" y="309067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Windows 10 Ent.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310128" y="3438144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4A261"/>
                </a:solidFill>
              </a:rPr>
              <a:t>Agent OS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310128" y="3730752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DDEF"/>
                </a:solidFill>
              </a:rPr>
              <a:t>ELITEBOOK + MICROTOWER — monitored endpoints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035040" y="2926080"/>
            <a:ext cx="2651760" cy="1737360"/>
          </a:xfrm>
          <a:prstGeom prst="rect">
            <a:avLst/>
          </a:prstGeom>
          <a:solidFill>
            <a:srgbClr val="065A82"/>
          </a:solidFill>
          <a:ln w="6350">
            <a:solidFill>
              <a:srgbClr val="1C729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035040" y="2926080"/>
            <a:ext cx="2651760" cy="64008"/>
          </a:xfrm>
          <a:prstGeom prst="rect">
            <a:avLst/>
          </a:prstGeom>
          <a:solidFill>
            <a:srgbClr val="7B9EB0"/>
          </a:solidFill>
          <a:ln w="12700">
            <a:solidFill>
              <a:srgbClr val="7B9EB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44768" y="309067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Git / GitHub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144768" y="3438144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B9EB0"/>
                </a:solidFill>
              </a:rPr>
              <a:t>Version Control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144768" y="3730752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DDEF"/>
                </a:solidFill>
              </a:rPr>
              <a:t>github.com/rickster-commits/AIOPS2026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B9EB0"/>
                </a:solidFill>
              </a:rPr>
              <a:t>6 / 13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6576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B9EB0"/>
                </a:solidFill>
              </a:rPr>
              <a:t>AIOPS2026  ·  Kirinyaga University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D1B2A"/>
                </a:solidFill>
              </a:rPr>
              <a:t>ML Anomaly Detection Engine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3657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960120"/>
            <a:ext cx="5029200" cy="11887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102412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B4D8"/>
                </a:solidFill>
              </a:rPr>
              <a:t>Risk Score Formula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(Critical × 10) + (High × 3) + (Medium × 1)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175564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B9EB0"/>
                </a:solidFill>
              </a:rPr>
              <a:t>Weights reflect severity impact — critical CVEs dominate the score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" y="2286000"/>
            <a:ext cx="5029200" cy="11430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48640" y="235000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</a:rPr>
              <a:t>Z-Score Cross-Endpoint Analysis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26517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 = (Score − Mean) ÷ Std Dev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48640" y="304495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B9EB0"/>
                </a:solidFill>
              </a:rPr>
              <a:t>Flag if Z &gt; 2.5 standard deviations above peer group mean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577840" y="91440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2A"/>
                </a:solidFill>
              </a:rPr>
              <a:t>Two-Tier Detection Logic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394960" y="1298448"/>
            <a:ext cx="3566160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D0DDE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394960" y="1298448"/>
            <a:ext cx="64008" cy="105156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559552" y="1389888"/>
            <a:ext cx="3310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3946"/>
                </a:solidFill>
              </a:rPr>
              <a:t>Tier 1 — Absolute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559552" y="1682496"/>
            <a:ext cx="33101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E68"/>
                </a:solidFill>
              </a:rPr>
              <a:t>Flags any endpoint with a Critical CVE or risk score &gt; 200, regardless of peers.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394960" y="2487168"/>
            <a:ext cx="3566160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D0DDE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394960" y="2487168"/>
            <a:ext cx="64008" cy="10515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559552" y="2578608"/>
            <a:ext cx="3310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</a:rPr>
              <a:t>Tier 2 — Statistical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559552" y="2871216"/>
            <a:ext cx="33101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E68"/>
                </a:solidFill>
              </a:rPr>
              <a:t>Flags endpoints that are outliers vs. their peer group using Z-score.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394960" y="3675888"/>
            <a:ext cx="3566160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D0DDE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394960" y="3675888"/>
            <a:ext cx="64008" cy="105156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59552" y="3767328"/>
            <a:ext cx="3310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A261"/>
                </a:solidFill>
              </a:rPr>
              <a:t>Compound Rule 100060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559552" y="4059936"/>
            <a:ext cx="33101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E68"/>
                </a:solidFill>
              </a:rPr>
              <a:t>Triggers when 5+ anomalies hit the same endpoint within 5 minutes.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C7293"/>
                </a:solidFill>
              </a:rPr>
              <a:t>7 / 13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6576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C7293"/>
                </a:solidFill>
              </a:rPr>
              <a:t>AIOPS2026  ·  Kirinyaga University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Custom Alert Rules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3657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960120"/>
            <a:ext cx="1097280" cy="38404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38912" y="96012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1B2A"/>
                </a:solidFill>
              </a:rPr>
              <a:t>Rule ID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463040" y="960120"/>
            <a:ext cx="1645920" cy="38404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36192" y="96012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1B2A"/>
                </a:solidFill>
              </a:rPr>
              <a:t>Level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108960" y="960120"/>
            <a:ext cx="3291840" cy="38404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82112" y="96012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1B2A"/>
                </a:solidFill>
              </a:rPr>
              <a:t>Description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960120"/>
            <a:ext cx="2103120" cy="38404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73952" y="96012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1B2A"/>
                </a:solidFill>
              </a:rPr>
              <a:t>Category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1344168"/>
            <a:ext cx="1097280" cy="393192"/>
          </a:xfrm>
          <a:prstGeom prst="rect">
            <a:avLst/>
          </a:prstGeom>
          <a:solidFill>
            <a:srgbClr val="065A82"/>
          </a:solidFill>
          <a:ln w="381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8912" y="1344168"/>
            <a:ext cx="1005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4D8"/>
                </a:solidFill>
              </a:rPr>
              <a:t>100001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463040" y="1344168"/>
            <a:ext cx="1645920" cy="393192"/>
          </a:xfrm>
          <a:prstGeom prst="rect">
            <a:avLst/>
          </a:prstGeom>
          <a:solidFill>
            <a:srgbClr val="065A82"/>
          </a:solidFill>
          <a:ln w="3810">
            <a:solidFill>
              <a:srgbClr val="1C729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36192" y="1344168"/>
            <a:ext cx="15544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A261"/>
                </a:solidFill>
              </a:rPr>
              <a:t>12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108960" y="1344168"/>
            <a:ext cx="3291840" cy="393192"/>
          </a:xfrm>
          <a:prstGeom prst="rect">
            <a:avLst/>
          </a:prstGeom>
          <a:solidFill>
            <a:srgbClr val="065A82"/>
          </a:solidFill>
          <a:ln w="3810">
            <a:solidFill>
              <a:srgbClr val="1C729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182112" y="1344168"/>
            <a:ext cx="32004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DDEF"/>
                </a:solidFill>
              </a:rPr>
              <a:t>Agent disconnected — endpoint requires attention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400800" y="1344168"/>
            <a:ext cx="2103120" cy="393192"/>
          </a:xfrm>
          <a:prstGeom prst="rect">
            <a:avLst/>
          </a:prstGeom>
          <a:solidFill>
            <a:srgbClr val="065A82"/>
          </a:solidFill>
          <a:ln w="3810">
            <a:solidFill>
              <a:srgbClr val="1C729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73952" y="1344168"/>
            <a:ext cx="20116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DDEF"/>
                </a:solidFill>
              </a:rPr>
              <a:t>Connectivity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760" y="1737360"/>
            <a:ext cx="1097280" cy="393192"/>
          </a:xfrm>
          <a:prstGeom prst="rect">
            <a:avLst/>
          </a:prstGeom>
          <a:solidFill>
            <a:srgbClr val="0D2137"/>
          </a:solidFill>
          <a:ln w="3810">
            <a:solidFill>
              <a:srgbClr val="1C729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8912" y="1737360"/>
            <a:ext cx="1005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4D8"/>
                </a:solidFill>
              </a:rPr>
              <a:t>100002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1463040" y="1737360"/>
            <a:ext cx="1645920" cy="393192"/>
          </a:xfrm>
          <a:prstGeom prst="rect">
            <a:avLst/>
          </a:prstGeom>
          <a:solidFill>
            <a:srgbClr val="0D2137"/>
          </a:solidFill>
          <a:ln w="3810">
            <a:solidFill>
              <a:srgbClr val="1C729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536192" y="1737360"/>
            <a:ext cx="15544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A261"/>
                </a:solidFill>
              </a:rPr>
              <a:t>12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108960" y="1737360"/>
            <a:ext cx="3291840" cy="393192"/>
          </a:xfrm>
          <a:prstGeom prst="rect">
            <a:avLst/>
          </a:prstGeom>
          <a:solidFill>
            <a:srgbClr val="0D2137"/>
          </a:solidFill>
          <a:ln w="3810">
            <a:solidFill>
              <a:srgbClr val="1C729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182112" y="1737360"/>
            <a:ext cx="32004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DDEF"/>
                </a:solidFill>
              </a:rPr>
              <a:t>Agent stopped — possible service disruption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400800" y="1737360"/>
            <a:ext cx="2103120" cy="393192"/>
          </a:xfrm>
          <a:prstGeom prst="rect">
            <a:avLst/>
          </a:prstGeom>
          <a:solidFill>
            <a:srgbClr val="0D2137"/>
          </a:solidFill>
          <a:ln w="3810">
            <a:solidFill>
              <a:srgbClr val="1C729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73952" y="1737360"/>
            <a:ext cx="20116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DDEF"/>
                </a:solidFill>
              </a:rPr>
              <a:t>Connectivity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5760" y="2130552"/>
            <a:ext cx="1097280" cy="393192"/>
          </a:xfrm>
          <a:prstGeom prst="rect">
            <a:avLst/>
          </a:prstGeom>
          <a:solidFill>
            <a:srgbClr val="065A82"/>
          </a:solidFill>
          <a:ln w="3810">
            <a:solidFill>
              <a:srgbClr val="1C729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8912" y="2130552"/>
            <a:ext cx="1005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4D8"/>
                </a:solidFill>
              </a:rPr>
              <a:t>100003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1463040" y="2130552"/>
            <a:ext cx="1645920" cy="393192"/>
          </a:xfrm>
          <a:prstGeom prst="rect">
            <a:avLst/>
          </a:prstGeom>
          <a:solidFill>
            <a:srgbClr val="065A82"/>
          </a:solidFill>
          <a:ln w="3810">
            <a:solidFill>
              <a:srgbClr val="1C729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536192" y="2130552"/>
            <a:ext cx="15544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C4B6"/>
                </a:solidFill>
              </a:rPr>
              <a:t>6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108960" y="2130552"/>
            <a:ext cx="3291840" cy="393192"/>
          </a:xfrm>
          <a:prstGeom prst="rect">
            <a:avLst/>
          </a:prstGeom>
          <a:solidFill>
            <a:srgbClr val="065A82"/>
          </a:solidFill>
          <a:ln w="3810">
            <a:solidFill>
              <a:srgbClr val="1C729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182112" y="2130552"/>
            <a:ext cx="32004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DDEF"/>
                </a:solidFill>
              </a:rPr>
              <a:t>Agent reconnected after disconnection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400800" y="2130552"/>
            <a:ext cx="2103120" cy="393192"/>
          </a:xfrm>
          <a:prstGeom prst="rect">
            <a:avLst/>
          </a:prstGeom>
          <a:solidFill>
            <a:srgbClr val="065A82"/>
          </a:solidFill>
          <a:ln w="3810">
            <a:solidFill>
              <a:srgbClr val="1C729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73952" y="2130552"/>
            <a:ext cx="20116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DDEF"/>
                </a:solidFill>
              </a:rPr>
              <a:t>Connectivity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65760" y="2523744"/>
            <a:ext cx="1097280" cy="393192"/>
          </a:xfrm>
          <a:prstGeom prst="rect">
            <a:avLst/>
          </a:prstGeom>
          <a:solidFill>
            <a:srgbClr val="0D2137"/>
          </a:solidFill>
          <a:ln w="3810">
            <a:solidFill>
              <a:srgbClr val="1C729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38912" y="2523744"/>
            <a:ext cx="1005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4D8"/>
                </a:solidFill>
              </a:rPr>
              <a:t>100010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1463040" y="2523744"/>
            <a:ext cx="1645920" cy="393192"/>
          </a:xfrm>
          <a:prstGeom prst="rect">
            <a:avLst/>
          </a:prstGeom>
          <a:solidFill>
            <a:srgbClr val="0D2137"/>
          </a:solidFill>
          <a:ln w="3810">
            <a:solidFill>
              <a:srgbClr val="1C729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536192" y="2523744"/>
            <a:ext cx="15544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C4B6"/>
                </a:solidFill>
              </a:rPr>
              <a:t>10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108960" y="2523744"/>
            <a:ext cx="3291840" cy="393192"/>
          </a:xfrm>
          <a:prstGeom prst="rect">
            <a:avLst/>
          </a:prstGeom>
          <a:solidFill>
            <a:srgbClr val="0D2137"/>
          </a:solidFill>
          <a:ln w="3810">
            <a:solidFill>
              <a:srgbClr val="1C7293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182112" y="2523744"/>
            <a:ext cx="32004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DDEF"/>
                </a:solidFill>
              </a:rPr>
              <a:t>Multiple failed logins — possible brute force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6400800" y="2523744"/>
            <a:ext cx="2103120" cy="393192"/>
          </a:xfrm>
          <a:prstGeom prst="rect">
            <a:avLst/>
          </a:prstGeom>
          <a:solidFill>
            <a:srgbClr val="0D2137"/>
          </a:solidFill>
          <a:ln w="3810">
            <a:solidFill>
              <a:srgbClr val="1C729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73952" y="2523744"/>
            <a:ext cx="20116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DDEF"/>
                </a:solidFill>
              </a:rPr>
              <a:t>Auth / BruteForce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365760" y="2916936"/>
            <a:ext cx="1097280" cy="393192"/>
          </a:xfrm>
          <a:prstGeom prst="rect">
            <a:avLst/>
          </a:prstGeom>
          <a:solidFill>
            <a:srgbClr val="065A82"/>
          </a:solidFill>
          <a:ln w="3810">
            <a:solidFill>
              <a:srgbClr val="1C729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38912" y="2916936"/>
            <a:ext cx="1005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4D8"/>
                </a:solidFill>
              </a:rPr>
              <a:t>100020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1463040" y="2916936"/>
            <a:ext cx="1645920" cy="393192"/>
          </a:xfrm>
          <a:prstGeom prst="rect">
            <a:avLst/>
          </a:prstGeom>
          <a:solidFill>
            <a:srgbClr val="065A82"/>
          </a:solidFill>
          <a:ln w="3810">
            <a:solidFill>
              <a:srgbClr val="1C7293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536192" y="2916936"/>
            <a:ext cx="15544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A261"/>
                </a:solidFill>
              </a:rPr>
              <a:t>12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3108960" y="2916936"/>
            <a:ext cx="3291840" cy="393192"/>
          </a:xfrm>
          <a:prstGeom prst="rect">
            <a:avLst/>
          </a:prstGeom>
          <a:solidFill>
            <a:srgbClr val="065A82"/>
          </a:solidFill>
          <a:ln w="3810">
            <a:solidFill>
              <a:srgbClr val="1C729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182112" y="2916936"/>
            <a:ext cx="32004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DDEF"/>
                </a:solidFill>
              </a:rPr>
              <a:t>New user account created on endpoint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6400800" y="2916936"/>
            <a:ext cx="2103120" cy="393192"/>
          </a:xfrm>
          <a:prstGeom prst="rect">
            <a:avLst/>
          </a:prstGeom>
          <a:solidFill>
            <a:srgbClr val="065A82"/>
          </a:solidFill>
          <a:ln w="3810">
            <a:solidFill>
              <a:srgbClr val="1C729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473952" y="2916936"/>
            <a:ext cx="20116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DDEF"/>
                </a:solidFill>
              </a:rPr>
              <a:t>Privilege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365760" y="3310128"/>
            <a:ext cx="1097280" cy="393192"/>
          </a:xfrm>
          <a:prstGeom prst="rect">
            <a:avLst/>
          </a:prstGeom>
          <a:solidFill>
            <a:srgbClr val="0D2137"/>
          </a:solidFill>
          <a:ln w="3810">
            <a:solidFill>
              <a:srgbClr val="1C7293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38912" y="3310128"/>
            <a:ext cx="1005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4D8"/>
                </a:solidFill>
              </a:rPr>
              <a:t>100021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1463040" y="3310128"/>
            <a:ext cx="1645920" cy="393192"/>
          </a:xfrm>
          <a:prstGeom prst="rect">
            <a:avLst/>
          </a:prstGeom>
          <a:solidFill>
            <a:srgbClr val="0D2137"/>
          </a:solidFill>
          <a:ln w="3810">
            <a:solidFill>
              <a:srgbClr val="1C7293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536192" y="3310128"/>
            <a:ext cx="15544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3946"/>
                </a:solidFill>
              </a:rPr>
              <a:t>14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3108960" y="3310128"/>
            <a:ext cx="3291840" cy="393192"/>
          </a:xfrm>
          <a:prstGeom prst="rect">
            <a:avLst/>
          </a:prstGeom>
          <a:solidFill>
            <a:srgbClr val="0D2137"/>
          </a:solidFill>
          <a:ln w="3810">
            <a:solidFill>
              <a:srgbClr val="1C7293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182112" y="3310128"/>
            <a:ext cx="32004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DDEF"/>
                </a:solidFill>
              </a:rPr>
              <a:t>User added to Administrators group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6400800" y="3310128"/>
            <a:ext cx="2103120" cy="393192"/>
          </a:xfrm>
          <a:prstGeom prst="rect">
            <a:avLst/>
          </a:prstGeom>
          <a:solidFill>
            <a:srgbClr val="0D2137"/>
          </a:solidFill>
          <a:ln w="3810">
            <a:solidFill>
              <a:srgbClr val="1C7293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473952" y="3310128"/>
            <a:ext cx="20116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DDEF"/>
                </a:solidFill>
              </a:rPr>
              <a:t>Privilege Escalation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365760" y="3703320"/>
            <a:ext cx="1097280" cy="393192"/>
          </a:xfrm>
          <a:prstGeom prst="rect">
            <a:avLst/>
          </a:prstGeom>
          <a:solidFill>
            <a:srgbClr val="065A82"/>
          </a:solidFill>
          <a:ln w="3810">
            <a:solidFill>
              <a:srgbClr val="1C7293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38912" y="3703320"/>
            <a:ext cx="1005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4D8"/>
                </a:solidFill>
              </a:rPr>
              <a:t>100030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1463040" y="3703320"/>
            <a:ext cx="1645920" cy="393192"/>
          </a:xfrm>
          <a:prstGeom prst="rect">
            <a:avLst/>
          </a:prstGeom>
          <a:solidFill>
            <a:srgbClr val="065A82"/>
          </a:solidFill>
          <a:ln w="3810">
            <a:solidFill>
              <a:srgbClr val="1C7293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1536192" y="3703320"/>
            <a:ext cx="15544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3946"/>
                </a:solidFill>
              </a:rPr>
              <a:t>15</a:t>
            </a:r>
            <a:endParaRPr lang="en-US" sz="1200" dirty="0"/>
          </a:p>
        </p:txBody>
      </p:sp>
      <p:sp>
        <p:nvSpPr>
          <p:cNvPr id="64" name="Shape 62"/>
          <p:cNvSpPr/>
          <p:nvPr/>
        </p:nvSpPr>
        <p:spPr>
          <a:xfrm>
            <a:off x="3108960" y="3703320"/>
            <a:ext cx="3291840" cy="393192"/>
          </a:xfrm>
          <a:prstGeom prst="rect">
            <a:avLst/>
          </a:prstGeom>
          <a:solidFill>
            <a:srgbClr val="065A82"/>
          </a:solidFill>
          <a:ln w="3810">
            <a:solidFill>
              <a:srgbClr val="1C7293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3182112" y="3703320"/>
            <a:ext cx="32004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DDEF"/>
                </a:solidFill>
              </a:rPr>
              <a:t>Malware detected by Windows Defender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6400800" y="3703320"/>
            <a:ext cx="2103120" cy="393192"/>
          </a:xfrm>
          <a:prstGeom prst="rect">
            <a:avLst/>
          </a:prstGeom>
          <a:solidFill>
            <a:srgbClr val="065A82"/>
          </a:solidFill>
          <a:ln w="3810">
            <a:solidFill>
              <a:srgbClr val="1C7293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473952" y="3703320"/>
            <a:ext cx="20116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DDEF"/>
                </a:solidFill>
              </a:rPr>
              <a:t>Threat / Malware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365760" y="4096512"/>
            <a:ext cx="1097280" cy="393192"/>
          </a:xfrm>
          <a:prstGeom prst="rect">
            <a:avLst/>
          </a:prstGeom>
          <a:solidFill>
            <a:srgbClr val="0D2137"/>
          </a:solidFill>
          <a:ln w="3810">
            <a:solidFill>
              <a:srgbClr val="1C7293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38912" y="4096512"/>
            <a:ext cx="1005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4D8"/>
                </a:solidFill>
              </a:rPr>
              <a:t>100040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1463040" y="4096512"/>
            <a:ext cx="1645920" cy="393192"/>
          </a:xfrm>
          <a:prstGeom prst="rect">
            <a:avLst/>
          </a:prstGeom>
          <a:solidFill>
            <a:srgbClr val="0D2137"/>
          </a:solidFill>
          <a:ln w="3810">
            <a:solidFill>
              <a:srgbClr val="1C7293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536192" y="4096512"/>
            <a:ext cx="15544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A261"/>
                </a:solidFill>
              </a:rPr>
              <a:t>12</a:t>
            </a:r>
            <a:endParaRPr lang="en-US" sz="1200" dirty="0"/>
          </a:p>
        </p:txBody>
      </p:sp>
      <p:sp>
        <p:nvSpPr>
          <p:cNvPr id="72" name="Shape 70"/>
          <p:cNvSpPr/>
          <p:nvPr/>
        </p:nvSpPr>
        <p:spPr>
          <a:xfrm>
            <a:off x="3108960" y="4096512"/>
            <a:ext cx="3291840" cy="393192"/>
          </a:xfrm>
          <a:prstGeom prst="rect">
            <a:avLst/>
          </a:prstGeom>
          <a:solidFill>
            <a:srgbClr val="0D2137"/>
          </a:solidFill>
          <a:ln w="3810">
            <a:solidFill>
              <a:srgbClr val="1C7293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3182112" y="4096512"/>
            <a:ext cx="32004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DDEF"/>
                </a:solidFill>
              </a:rPr>
              <a:t>Suspicious PowerShell execution detected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6400800" y="4096512"/>
            <a:ext cx="2103120" cy="393192"/>
          </a:xfrm>
          <a:prstGeom prst="rect">
            <a:avLst/>
          </a:prstGeom>
          <a:solidFill>
            <a:srgbClr val="0D2137"/>
          </a:solidFill>
          <a:ln w="3810">
            <a:solidFill>
              <a:srgbClr val="1C7293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473952" y="4096512"/>
            <a:ext cx="20116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DDEF"/>
                </a:solidFill>
              </a:rPr>
              <a:t>Suspicious Activity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365760" y="4489704"/>
            <a:ext cx="1097280" cy="393192"/>
          </a:xfrm>
          <a:prstGeom prst="rect">
            <a:avLst/>
          </a:prstGeom>
          <a:solidFill>
            <a:srgbClr val="065A82"/>
          </a:solidFill>
          <a:ln w="3810">
            <a:solidFill>
              <a:srgbClr val="1C7293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438912" y="4489704"/>
            <a:ext cx="1005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4D8"/>
                </a:solidFill>
              </a:rPr>
              <a:t>100060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1463040" y="4489704"/>
            <a:ext cx="1645920" cy="393192"/>
          </a:xfrm>
          <a:prstGeom prst="rect">
            <a:avLst/>
          </a:prstGeom>
          <a:solidFill>
            <a:srgbClr val="065A82"/>
          </a:solidFill>
          <a:ln w="3810">
            <a:solidFill>
              <a:srgbClr val="1C7293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1536192" y="4489704"/>
            <a:ext cx="15544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3946"/>
                </a:solidFill>
              </a:rPr>
              <a:t>14</a:t>
            </a:r>
            <a:endParaRPr lang="en-US" sz="1200" dirty="0"/>
          </a:p>
        </p:txBody>
      </p:sp>
      <p:sp>
        <p:nvSpPr>
          <p:cNvPr id="80" name="Shape 78"/>
          <p:cNvSpPr/>
          <p:nvPr/>
        </p:nvSpPr>
        <p:spPr>
          <a:xfrm>
            <a:off x="3108960" y="4489704"/>
            <a:ext cx="3291840" cy="393192"/>
          </a:xfrm>
          <a:prstGeom prst="rect">
            <a:avLst/>
          </a:prstGeom>
          <a:solidFill>
            <a:srgbClr val="065A82"/>
          </a:solidFill>
          <a:ln w="3810">
            <a:solidFill>
              <a:srgbClr val="1C7293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3182112" y="4489704"/>
            <a:ext cx="32004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DDEF"/>
                </a:solidFill>
              </a:rPr>
              <a:t>5+ anomalies on endpoint within 5 minutes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6400800" y="4489704"/>
            <a:ext cx="2103120" cy="393192"/>
          </a:xfrm>
          <a:prstGeom prst="rect">
            <a:avLst/>
          </a:prstGeom>
          <a:solidFill>
            <a:srgbClr val="065A82"/>
          </a:solidFill>
          <a:ln w="3810">
            <a:solidFill>
              <a:srgbClr val="1C7293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473952" y="4489704"/>
            <a:ext cx="20116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DDEF"/>
                </a:solidFill>
              </a:rPr>
              <a:t>Compound Threat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365760" y="4828032"/>
            <a:ext cx="8412480" cy="219456"/>
          </a:xfrm>
          <a:prstGeom prst="rect">
            <a:avLst/>
          </a:prstGeom>
          <a:solidFill>
            <a:srgbClr val="065A82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502920" y="482803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DDEF"/>
                </a:solidFill>
              </a:rPr>
              <a:t>Rules 100001–100002 validated against MITRE ATT&amp;CK T1562.001 (Defense Evasion) — confirmed firing in Wazuh Dashboard</a:t>
            </a:r>
            <a:endParaRPr lang="en-US" sz="900" dirty="0"/>
          </a:p>
        </p:txBody>
      </p:sp>
      <p:sp>
        <p:nvSpPr>
          <p:cNvPr id="86" name="Text 84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B9EB0"/>
                </a:solidFill>
              </a:rPr>
              <a:t>8 / 13</a:t>
            </a:r>
            <a:endParaRPr lang="en-US" sz="900" dirty="0"/>
          </a:p>
        </p:txBody>
      </p:sp>
      <p:sp>
        <p:nvSpPr>
          <p:cNvPr id="87" name="Text 85"/>
          <p:cNvSpPr/>
          <p:nvPr/>
        </p:nvSpPr>
        <p:spPr>
          <a:xfrm>
            <a:off x="36576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B9EB0"/>
                </a:solidFill>
              </a:rPr>
              <a:t>AIOPS2026  ·  Kirinyaga University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D1B2A"/>
                </a:solidFill>
              </a:rPr>
              <a:t>Results — Vulnerability Analysis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3657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graphicFrame>
        <p:nvGraphicFramePr>
          <p:cNvPr id="4" name="Chart 0" descr=""/>
          <p:cNvGraphicFramePr/>
          <p:nvPr/>
        </p:nvGraphicFramePr>
        <p:xfrm>
          <a:off x="365760" y="960120"/>
          <a:ext cx="50292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577840" y="1005840"/>
            <a:ext cx="3383280" cy="960120"/>
          </a:xfrm>
          <a:prstGeom prst="rect">
            <a:avLst/>
          </a:prstGeom>
          <a:solidFill>
            <a:srgbClr val="065A82"/>
          </a:solidFill>
          <a:ln w="6350">
            <a:solidFill>
              <a:srgbClr val="1C729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5577840" y="1051560"/>
            <a:ext cx="3383280" cy="55687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4A261"/>
                </a:solidFill>
              </a:rPr>
              <a:t>402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5577840" y="1581912"/>
            <a:ext cx="3383280" cy="3648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DDEF"/>
                </a:solidFill>
              </a:rPr>
              <a:t>ELITEBOOK Risk Score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577840" y="2103120"/>
            <a:ext cx="3383280" cy="960120"/>
          </a:xfrm>
          <a:prstGeom prst="rect">
            <a:avLst/>
          </a:prstGeom>
          <a:solidFill>
            <a:srgbClr val="065A82"/>
          </a:solidFill>
          <a:ln w="6350">
            <a:solidFill>
              <a:srgbClr val="1C729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5577840" y="2148840"/>
            <a:ext cx="3383280" cy="55687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63946"/>
                </a:solidFill>
              </a:rPr>
              <a:t>433</a:t>
            </a:r>
            <a:endParaRPr lang="en-US" sz="3400" dirty="0"/>
          </a:p>
        </p:txBody>
      </p:sp>
      <p:sp>
        <p:nvSpPr>
          <p:cNvPr id="10" name="Text 7"/>
          <p:cNvSpPr/>
          <p:nvPr/>
        </p:nvSpPr>
        <p:spPr>
          <a:xfrm>
            <a:off x="5577840" y="2679192"/>
            <a:ext cx="3383280" cy="3648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DDEF"/>
                </a:solidFill>
              </a:rPr>
              <a:t>MICROTOWER Risk Score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577840" y="3200400"/>
            <a:ext cx="3383280" cy="960120"/>
          </a:xfrm>
          <a:prstGeom prst="rect">
            <a:avLst/>
          </a:prstGeom>
          <a:solidFill>
            <a:srgbClr val="065A82"/>
          </a:solidFill>
          <a:ln w="6350">
            <a:solidFill>
              <a:srgbClr val="1C729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5577840" y="3246120"/>
            <a:ext cx="3383280" cy="55687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EC4B6"/>
                </a:solidFill>
              </a:rPr>
              <a:t>0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5577840" y="3776472"/>
            <a:ext cx="3383280" cy="3648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DDEF"/>
                </a:solidFill>
              </a:rPr>
              <a:t>Obsidian Risk Score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577840" y="4315968"/>
            <a:ext cx="3383280" cy="640080"/>
          </a:xfrm>
          <a:prstGeom prst="rect">
            <a:avLst/>
          </a:prstGeom>
          <a:solidFill>
            <a:srgbClr val="065A82"/>
          </a:solidFill>
          <a:ln w="6350">
            <a:solidFill>
              <a:srgbClr val="1C729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5577840" y="4361688"/>
            <a:ext cx="3383280" cy="37124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0B4D8"/>
                </a:solidFill>
              </a:rPr>
              <a:t>156–169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5577840" y="4700016"/>
            <a:ext cx="3383280" cy="243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DDEF"/>
                </a:solidFill>
              </a:rPr>
              <a:t>CVEs per Windows endpoint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C7293"/>
                </a:solidFill>
              </a:rPr>
              <a:t>9 / 13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36576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C7293"/>
                </a:solidFill>
              </a:rPr>
              <a:t>AIOPS2026  ·  Kirinyaga University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Results — Anomaly Detection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3657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91840" y="960120"/>
            <a:ext cx="2560320" cy="1920240"/>
          </a:xfrm>
          <a:prstGeom prst="rect">
            <a:avLst/>
          </a:prstGeom>
          <a:solidFill>
            <a:srgbClr val="065A82"/>
          </a:solidFill>
          <a:ln w="12700">
            <a:solidFill>
              <a:srgbClr val="1C729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291840" y="1005840"/>
            <a:ext cx="2560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0" b="1" dirty="0">
                <a:solidFill>
                  <a:srgbClr val="00B4D8"/>
                </a:solidFill>
              </a:rPr>
              <a:t>7</a:t>
            </a:r>
            <a:endParaRPr lang="en-US" sz="10000" dirty="0"/>
          </a:p>
        </p:txBody>
      </p:sp>
      <p:sp>
        <p:nvSpPr>
          <p:cNvPr id="6" name="Text 4"/>
          <p:cNvSpPr/>
          <p:nvPr/>
        </p:nvSpPr>
        <p:spPr>
          <a:xfrm>
            <a:off x="3291840" y="22860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C8DDEF"/>
                </a:solidFill>
              </a:rPr>
              <a:t>ANOMALIES DETECTED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3154680"/>
            <a:ext cx="1965960" cy="1691640"/>
          </a:xfrm>
          <a:prstGeom prst="rect">
            <a:avLst/>
          </a:prstGeom>
          <a:solidFill>
            <a:srgbClr val="065A82"/>
          </a:solidFill>
          <a:ln w="6350">
            <a:solidFill>
              <a:srgbClr val="1C729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65760" y="3200400"/>
            <a:ext cx="1965960" cy="98115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C7293"/>
                </a:solidFill>
              </a:rPr>
              <a:t>278.3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365760" y="4169664"/>
            <a:ext cx="1965960" cy="6428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DDEF"/>
                </a:solidFill>
              </a:rPr>
              <a:t>Mean Risk Score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8DDEF"/>
                </a:solidFill>
              </a:rPr>
              <a:t>across group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560320" y="3154680"/>
            <a:ext cx="1965960" cy="1691640"/>
          </a:xfrm>
          <a:prstGeom prst="rect">
            <a:avLst/>
          </a:prstGeom>
          <a:solidFill>
            <a:srgbClr val="065A82"/>
          </a:solidFill>
          <a:ln w="6350">
            <a:solidFill>
              <a:srgbClr val="1C729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560320" y="3200400"/>
            <a:ext cx="1965960" cy="98115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65A82"/>
                </a:solidFill>
              </a:rPr>
              <a:t>197.2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2560320" y="4169664"/>
            <a:ext cx="1965960" cy="6428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DDEF"/>
                </a:solidFill>
              </a:rPr>
              <a:t>Std Deviation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8DDEF"/>
                </a:solidFill>
              </a:rPr>
              <a:t>of Risk Scores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54880" y="3154680"/>
            <a:ext cx="1965960" cy="1691640"/>
          </a:xfrm>
          <a:prstGeom prst="rect">
            <a:avLst/>
          </a:prstGeom>
          <a:solidFill>
            <a:srgbClr val="065A82"/>
          </a:solidFill>
          <a:ln w="6350">
            <a:solidFill>
              <a:srgbClr val="1C729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54880" y="3200400"/>
            <a:ext cx="1965960" cy="98115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EC4B6"/>
                </a:solidFill>
              </a:rPr>
              <a:t>&lt; 2s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4754880" y="4169664"/>
            <a:ext cx="1965960" cy="6428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DDEF"/>
                </a:solidFill>
              </a:rPr>
              <a:t>Full scan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8DDEF"/>
                </a:solidFill>
              </a:rPr>
              <a:t>completion time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949440" y="3154680"/>
            <a:ext cx="1965960" cy="1691640"/>
          </a:xfrm>
          <a:prstGeom prst="rect">
            <a:avLst/>
          </a:prstGeom>
          <a:solidFill>
            <a:srgbClr val="065A82"/>
          </a:solidFill>
          <a:ln w="6350">
            <a:solidFill>
              <a:srgbClr val="1C729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949440" y="3200400"/>
            <a:ext cx="1965960" cy="98115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0B4D8"/>
                </a:solidFill>
              </a:rPr>
              <a:t>0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6949440" y="4169664"/>
            <a:ext cx="1965960" cy="6428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DDEF"/>
                </a:solidFill>
              </a:rPr>
              <a:t>False positives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8DDEF"/>
                </a:solidFill>
              </a:rPr>
              <a:t>on Ubuntu server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65760" y="960120"/>
            <a:ext cx="2743200" cy="192024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8DDEF"/>
                </a:solidFill>
              </a:rPr>
              <a:t>  1.  ELITEBOOK — Critical CVE present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8DDEF"/>
                </a:solidFill>
              </a:rPr>
              <a:t>  2.  ELITEBOOK — High CVE count &gt; 50 threshold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8DDEF"/>
                </a:solidFill>
              </a:rPr>
              <a:t>  3.  ELITEBOOK — Risk score &gt; 200 safe threshold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8DDEF"/>
                </a:solidFill>
              </a:rPr>
              <a:t>  4.  MICROTOWER — Critical CVE present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8DDEF"/>
                </a:solidFill>
              </a:rPr>
              <a:t>  5.  MICROTOWER — High CVE count &gt; 50 threshold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8DDEF"/>
                </a:solidFill>
              </a:rPr>
              <a:t>  6.  MICROTOWER — Risk score &gt; 200 safe threshold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4A261"/>
                </a:solidFill>
              </a:rPr>
              <a:t>  7.  MICROTOWER — Agent disconnected (connectivity)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B9EB0"/>
                </a:solidFill>
              </a:rPr>
              <a:t>10 / 13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B9EB0"/>
                </a:solidFill>
              </a:rPr>
              <a:t>AIOPS2026  ·  Kirinyaga University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D1B2A"/>
                </a:solidFill>
              </a:rPr>
              <a:t>Discussion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3657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960120"/>
            <a:ext cx="420624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DE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960120"/>
            <a:ext cx="64008" cy="178308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206240" y="1033272"/>
            <a:ext cx="822960" cy="256032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87952" y="103327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Finding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10515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2A"/>
                </a:solidFill>
              </a:rPr>
              <a:t>Why both machines scored similarly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1417320"/>
            <a:ext cx="3566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E68"/>
                </a:solidFill>
              </a:rPr>
              <a:t>Both are Windows 10 Enterprise installations with similar patch states. Z-score flags outliers vs. peers — when peers are equally vulnerable, absolute thresholds catch them instead. The method is correct; the sample just needs more diversity.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46320" y="960120"/>
            <a:ext cx="420624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DE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846320" y="960120"/>
            <a:ext cx="64008" cy="178308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686800" y="1033272"/>
            <a:ext cx="822960" cy="256032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68512" y="103327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Limitation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029200" y="10515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2A"/>
                </a:solidFill>
              </a:rPr>
              <a:t>n=3 is a real limitation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0" y="1417320"/>
            <a:ext cx="3566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E68"/>
                </a:solidFill>
              </a:rPr>
              <a:t>Standard deviation of 197.2 is heavily pulled by Obsidian's score of 0. A reliable baseline needs 10–15+ endpoints. This is a sample-size constraint, not a flaw in the algorithm.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2926080"/>
            <a:ext cx="420624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DE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926080"/>
            <a:ext cx="64008" cy="17830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206240" y="2999232"/>
            <a:ext cx="822960" cy="256032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187952" y="29992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Design Choice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48640" y="30175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2A"/>
                </a:solidFill>
              </a:rPr>
              <a:t>Why Z-score over Isolation Forest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48640" y="3383280"/>
            <a:ext cx="3566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E68"/>
                </a:solidFill>
              </a:rPr>
              <a:t>Z-score produces an interpretable reason: 'this endpoint is 2.7σ above the mean.' Isolation Forest gives a score with no explanation. For SME environments where analysts need to understand the flag, interpretability wins.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46320" y="2926080"/>
            <a:ext cx="420624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DE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846320" y="2926080"/>
            <a:ext cx="64008" cy="1783080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686800" y="2999232"/>
            <a:ext cx="822960" cy="256032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668512" y="29992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Contribution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5029200" y="30175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2A"/>
                </a:solidFill>
              </a:rPr>
              <a:t>Compared to related work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029200" y="3383280"/>
            <a:ext cx="3566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E68"/>
                </a:solidFill>
              </a:rPr>
              <a:t>AIOPS2026 queries live structured vulnerability data vs. raw log rates. Runs at zero cost on a laptop. Produces flags with explicit reasons. No black-box anomaly scores.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C7293"/>
                </a:solidFill>
              </a:rPr>
              <a:t>11 / 13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36576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C7293"/>
                </a:solidFill>
              </a:rPr>
              <a:t>AIOPS2026  ·  Kirinyaga University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Conclusion &amp; Future Work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3657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960120"/>
            <a:ext cx="4937760" cy="1828800"/>
          </a:xfrm>
          <a:prstGeom prst="rect">
            <a:avLst/>
          </a:prstGeom>
          <a:solidFill>
            <a:srgbClr val="065A82"/>
          </a:solidFill>
          <a:ln w="6350">
            <a:solidFill>
              <a:srgbClr val="1C729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960120"/>
            <a:ext cx="4937760" cy="64008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05156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C4B6"/>
                </a:solidFill>
              </a:rPr>
              <a:t>What AIOPS2026 Demonstrated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46634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B4D8"/>
                </a:solidFill>
              </a:rPr>
              <a:t>✓  7 anomalies detected across 3 endpoints in a single scan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1691640"/>
            <a:ext cx="46634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DDEF"/>
                </a:solidFill>
              </a:rPr>
              <a:t>✓  Absolute + Z-score detection worked as designed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1938528"/>
            <a:ext cx="46634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DDEF"/>
                </a:solidFill>
              </a:rPr>
              <a:t>✓  10 custom MITRE ATT&amp;CK–mapped rules loaded and validated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02920" y="2185416"/>
            <a:ext cx="46634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DDEF"/>
                </a:solidFill>
              </a:rPr>
              <a:t>✓  Full scan completes in under 2 seconds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2432304"/>
            <a:ext cx="46634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DDEF"/>
                </a:solidFill>
              </a:rPr>
              <a:t>✓  Zero external Python dependencies — runs on any laptop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0" y="960120"/>
            <a:ext cx="3474720" cy="1828800"/>
          </a:xfrm>
          <a:prstGeom prst="rect">
            <a:avLst/>
          </a:prstGeom>
          <a:solidFill>
            <a:srgbClr val="065A82"/>
          </a:solidFill>
          <a:ln w="6350">
            <a:solidFill>
              <a:srgbClr val="1C729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486400" y="960120"/>
            <a:ext cx="3474720" cy="6400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23560" y="10515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A261"/>
                </a:solidFill>
              </a:rPr>
              <a:t>Future Work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623560" y="1444752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DDEF"/>
                </a:solidFill>
              </a:rPr>
              <a:t>→  Isolation Forest / Random Forest ML models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623560" y="1691640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DDEF"/>
                </a:solidFill>
              </a:rPr>
              <a:t>→  Automated remediation scripts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623560" y="1938528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DDEF"/>
                </a:solidFill>
              </a:rPr>
              <a:t>→  Cloud (AWS / GCP) extension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23560" y="2185416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DDEF"/>
                </a:solidFill>
              </a:rPr>
              <a:t>→  Time-series predictive failure detection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623560" y="2432304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DDEF"/>
                </a:solidFill>
              </a:rPr>
              <a:t>→  REST API for ITSM integration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65760" y="2971800"/>
            <a:ext cx="8412480" cy="10972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48640" y="3035808"/>
            <a:ext cx="804672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A working AIOps layer can be built on Wazuh with no commercial tooling,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no external Python dependencies, and no dedicated SecOps staff.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The cost is time and configuration.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B9EB0"/>
                </a:solidFill>
              </a:rPr>
              <a:t>12 / 13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6576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B9EB0"/>
                </a:solidFill>
              </a:rPr>
              <a:t>AIOPS2026  ·  Kirinyaga University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01168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FFFFF"/>
                </a:solidFill>
              </a:rPr>
              <a:t>Thank You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457200" y="21945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B4D8"/>
                </a:solidFill>
              </a:rPr>
              <a:t>Questions &amp; Discussion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2834640"/>
            <a:ext cx="4114800" cy="475488"/>
          </a:xfrm>
          <a:prstGeom prst="rect">
            <a:avLst/>
          </a:prstGeom>
          <a:solidFill>
            <a:srgbClr val="065A82"/>
          </a:solidFill>
          <a:ln w="6350">
            <a:solidFill>
              <a:srgbClr val="1C729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2834640"/>
            <a:ext cx="54864" cy="47548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852928"/>
            <a:ext cx="2560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Alfrick Achoki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200400" y="2852928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B9EB0"/>
                </a:solidFill>
              </a:rPr>
              <a:t>CT100/G/14089/21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3401568"/>
            <a:ext cx="4114800" cy="475488"/>
          </a:xfrm>
          <a:prstGeom prst="rect">
            <a:avLst/>
          </a:prstGeom>
          <a:solidFill>
            <a:srgbClr val="065A82"/>
          </a:solidFill>
          <a:ln w="6350">
            <a:solidFill>
              <a:srgbClr val="1C729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3401568"/>
            <a:ext cx="54864" cy="47548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419856"/>
            <a:ext cx="2560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Shadrack Kithua Ndunguu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200400" y="3419856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B9EB0"/>
                </a:solidFill>
              </a:rPr>
              <a:t>CT100/G/15934/22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3968496"/>
            <a:ext cx="4114800" cy="475488"/>
          </a:xfrm>
          <a:prstGeom prst="rect">
            <a:avLst/>
          </a:prstGeom>
          <a:solidFill>
            <a:srgbClr val="065A82"/>
          </a:solidFill>
          <a:ln w="6350">
            <a:solidFill>
              <a:srgbClr val="1C729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3968496"/>
            <a:ext cx="54864" cy="47548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3986784"/>
            <a:ext cx="2560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Maureen Mwangi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200400" y="3986784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B9EB0"/>
                </a:solidFill>
              </a:rPr>
              <a:t>CT100/G/17587/22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937760" y="2834640"/>
            <a:ext cx="4114800" cy="475488"/>
          </a:xfrm>
          <a:prstGeom prst="rect">
            <a:avLst/>
          </a:prstGeom>
          <a:solidFill>
            <a:srgbClr val="065A82"/>
          </a:solidFill>
          <a:ln w="6350">
            <a:solidFill>
              <a:srgbClr val="1C729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37760" y="2834640"/>
            <a:ext cx="54864" cy="47548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120640" y="2852928"/>
            <a:ext cx="2560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Njuguna Peter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680960" y="2852928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B9EB0"/>
                </a:solidFill>
              </a:rPr>
              <a:t>CT100/G/15912/22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937760" y="3401568"/>
            <a:ext cx="4114800" cy="475488"/>
          </a:xfrm>
          <a:prstGeom prst="rect">
            <a:avLst/>
          </a:prstGeom>
          <a:solidFill>
            <a:srgbClr val="065A82"/>
          </a:solidFill>
          <a:ln w="6350">
            <a:solidFill>
              <a:srgbClr val="1C729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937760" y="3401568"/>
            <a:ext cx="54864" cy="47548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20640" y="3419856"/>
            <a:ext cx="2560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Kimutai Nahashon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680960" y="3419856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B9EB0"/>
                </a:solidFill>
              </a:rPr>
              <a:t>CT100/G/15975/22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B9EB0"/>
                </a:solidFill>
              </a:rPr>
              <a:t>github.com/rickster-commits/AIOPS2026  ·  Supervisor: Jotham Wasike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AIOPS2026 - AI-Powered IT Operations Platform</dc:title>
  <dc:subject>PptxGenJS Presentation</dc:subject>
  <dc:creator>Alfrick Achoki</dc:creator>
  <cp:lastModifiedBy>Alfrick Achoki</cp:lastModifiedBy>
  <cp:revision>1</cp:revision>
  <dcterms:created xsi:type="dcterms:W3CDTF">2026-03-13T08:52:53Z</dcterms:created>
  <dcterms:modified xsi:type="dcterms:W3CDTF">2026-03-13T08:52:53Z</dcterms:modified>
</cp:coreProperties>
</file>